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829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60" r:id="rId7"/>
    <p:sldId id="258" r:id="rId8"/>
    <p:sldId id="261" r:id="rId9"/>
    <p:sldId id="286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9" autoAdjust="0"/>
    <p:restoredTop sz="94660"/>
  </p:normalViewPr>
  <p:slideViewPr>
    <p:cSldViewPr snapToGrid="0">
      <p:cViewPr>
        <p:scale>
          <a:sx n="76" d="100"/>
          <a:sy n="76" d="100"/>
        </p:scale>
        <p:origin x="48" y="3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6/23/2026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4E4E46-0BCF-FE19-C4E2-DC7FA7EAD0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7E10F8A-AEE4-2271-B687-313CC511EE1A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9B85C5A-1FE5-A062-E9B7-91D8575D0921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6FF1104-AE0A-2BDF-241F-ECFB15E39DCB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21263896-B855-C99D-51CB-044713D4BA45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4" name="Right Triangle 23">
                <a:extLst>
                  <a:ext uri="{FF2B5EF4-FFF2-40B4-BE49-F238E27FC236}">
                    <a16:creationId xmlns:a16="http://schemas.microsoft.com/office/drawing/2014/main" id="{4E438E9D-2881-62F7-9906-B07AF6C8AB62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5" name="Right Triangle 24">
                <a:extLst>
                  <a:ext uri="{FF2B5EF4-FFF2-40B4-BE49-F238E27FC236}">
                    <a16:creationId xmlns:a16="http://schemas.microsoft.com/office/drawing/2014/main" id="{022D7C87-3DE8-51DB-CD49-DDED0505E9CA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6" name="Right Triangle 25">
                <a:extLst>
                  <a:ext uri="{FF2B5EF4-FFF2-40B4-BE49-F238E27FC236}">
                    <a16:creationId xmlns:a16="http://schemas.microsoft.com/office/drawing/2014/main" id="{615307C1-0A3E-8BB0-E3D5-8B38E765BEAD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56B25CC3-CDF1-B3AB-F557-1040E777739C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45F2DD2-A1AE-339C-AF44-8AC5236CE7F5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AF3C339-3FCA-BBD6-9CE0-86B1F0B1650F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53D05CB-20C9-CAD6-0A94-1B57520002A9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1C7D99B-2AA4-9F39-050E-71EF9B2BBD1D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9D5F908-EB79-2385-F49E-6324524B2929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1" name="Freeform: Shape 12">
                <a:extLst>
                  <a:ext uri="{FF2B5EF4-FFF2-40B4-BE49-F238E27FC236}">
                    <a16:creationId xmlns:a16="http://schemas.microsoft.com/office/drawing/2014/main" id="{D0E211AD-297F-9626-975D-83DE72BC3A45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46350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D5C51B-9AC0-C1C2-E1A9-12C54E76159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2C1B0D9-A84E-EAF4-6176-C0BC3E008920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BB194DA-EE89-FA9A-C4A8-52B1E3875470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F7B656D-4036-AC7B-D09A-CA2581F49095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8D665B5-5C90-8E27-B825-3ADF9DAFAAB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6B367B-D94E-5C6B-BCEC-18ABA12DE237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1EF27EF-5B13-88C3-9F46-0E42A4FF85DC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243E70F-D75D-2273-D19B-47234399270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C9799BE-8BCF-CDEC-61B5-9925902C210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5">
              <a:extLst>
                <a:ext uri="{FF2B5EF4-FFF2-40B4-BE49-F238E27FC236}">
                  <a16:creationId xmlns:a16="http://schemas.microsoft.com/office/drawing/2014/main" id="{BD1EF15A-A752-C0A2-9AE6-E4C0988DB5D8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16">
              <a:extLst>
                <a:ext uri="{FF2B5EF4-FFF2-40B4-BE49-F238E27FC236}">
                  <a16:creationId xmlns:a16="http://schemas.microsoft.com/office/drawing/2014/main" id="{A0723333-D5B2-C5D1-1F7D-F0686AD05640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ED180B-F81C-6CFD-81AB-2359539AC714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1526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069CFD-D266-A0E5-19B9-47C7F887E7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062A24B-7931-AF1F-2CFD-D9372F4FC67F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29078C3-C31D-FF94-0DFD-1CB1C0AE33EB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D5DACBB5-B236-A0F8-3CDE-CF104ED90366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47F21B2-C594-8130-5E65-46AF22726A82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44A59EB-6127-9FCE-AC76-AA44B7A212B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DFB8C8A-CE99-DB64-7931-CF37D2516037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AD30B6C-9CD9-28D5-6E95-84B9B50C8046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F56B783-9F4C-43F7-EB0C-6C4D7D8FC2B0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29E666C-85C6-3CD7-E432-1D95DBE4D50B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4CD24AC-79CE-8DFF-07F6-D80202D547C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3404EA0-E160-3034-3E44-952009C3600F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8818589-69CB-1DE8-87AC-6DDCC9F71A5C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D5C76F5-C734-7286-35D9-17AD270DF096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3258D4B-0CE1-93B7-4601-36DB37ACE1EC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993388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798C38-5B40-A8F2-93C1-46B68A2BEE37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5647844-7705-9CCA-64DB-7352C7A06137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2BB738-F931-3239-2823-E8DBFAC2DE84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8120BF1-6068-A73B-006B-BD3F1CD916BF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1861A0-7636-6A3D-2E97-0C7125281A37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626FA8E-6402-D5B1-D21B-39C0BCAF2087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2EC2958-7B80-682A-2A72-23FE324C393F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DF97395-D56D-A0A7-E023-F98DAFB906A6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025F7CF-1F43-21A0-77E4-04DB8CED8EAD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7" name="Rectangle: Single Corner Snipped 16">
              <a:extLst>
                <a:ext uri="{FF2B5EF4-FFF2-40B4-BE49-F238E27FC236}">
                  <a16:creationId xmlns:a16="http://schemas.microsoft.com/office/drawing/2014/main" id="{19E5DA95-43C1-65F7-513A-6C44D4CD96B9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8" name="Rectangle: Single Corner Snipped 17">
              <a:extLst>
                <a:ext uri="{FF2B5EF4-FFF2-40B4-BE49-F238E27FC236}">
                  <a16:creationId xmlns:a16="http://schemas.microsoft.com/office/drawing/2014/main" id="{FC15B3A4-C784-B004-E5C1-844606CBD717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B9C58CD-F2EF-E4FC-333A-25E46442762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45378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015E24-B2E0-F4C6-2288-7570FB201B03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C6A8DCB-78A0-D1F0-216D-5FF87A7112B0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3C24C2D-F306-0245-00F9-C6A8EF8450C7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B6E8757-EA9E-C95C-A731-E3CE56A2083D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E756E21-6F7D-E857-3ED5-975BAD5F1E47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78CF50-7F4E-4474-81D6-544C2F7DD4FB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451D105-262E-9EA2-7041-5B4A1AA212CB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E43255C-9769-9A54-2074-9C1F266FA2F5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A9050C7-6B57-3861-CC97-FF2410796D04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41DCE716-B026-C390-7489-89A979E01F51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20" name="Rectangle: Single Corner Snipped 19">
              <a:extLst>
                <a:ext uri="{FF2B5EF4-FFF2-40B4-BE49-F238E27FC236}">
                  <a16:creationId xmlns:a16="http://schemas.microsoft.com/office/drawing/2014/main" id="{214CEE2C-B665-537D-D80A-E70542198DF8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08470B3-F153-77D6-DF57-3140E8A5F3F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1590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33DF91-294F-4C84-B3BB-BC3CA946F89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6CA6473-9C63-6780-22F4-E25876AB3BF6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5F84365-ABD2-2694-07DC-5C05C89882C1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8FAD9B4-7101-270E-9D4D-5242D4695A76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657C1A9-4102-DC3C-8AE9-D69B9D20B51E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76B73F3-6DE9-9E4C-6725-EF571EE6A216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91AAC55-44AC-2CE9-A281-1D472995D669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3469BE-4633-3F7F-B866-5DDBBDB2B931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D0C0F79-0C27-AC84-E6E3-02B69A032A7C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5" name="Rectangle: Single Corner Snipped 14">
              <a:extLst>
                <a:ext uri="{FF2B5EF4-FFF2-40B4-BE49-F238E27FC236}">
                  <a16:creationId xmlns:a16="http://schemas.microsoft.com/office/drawing/2014/main" id="{C85A61DE-5863-6FC6-998D-60E7D9A01726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6" name="Rectangle: Single Corner Snipped 15">
              <a:extLst>
                <a:ext uri="{FF2B5EF4-FFF2-40B4-BE49-F238E27FC236}">
                  <a16:creationId xmlns:a16="http://schemas.microsoft.com/office/drawing/2014/main" id="{FD682898-B5C9-62F0-60D0-9B5EF5EFC268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F753B14-8BAA-C748-C93B-41F431A9DC6D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69940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B25D38-2AA0-F82E-AFA2-A12140E006B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Freeform: Shape 9">
            <a:extLst>
              <a:ext uri="{FF2B5EF4-FFF2-40B4-BE49-F238E27FC236}">
                <a16:creationId xmlns:a16="http://schemas.microsoft.com/office/drawing/2014/main" id="{BDC7D903-8455-11B3-1E79-0A3F85EE721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7">
            <a:extLst>
              <a:ext uri="{FF2B5EF4-FFF2-40B4-BE49-F238E27FC236}">
                <a16:creationId xmlns:a16="http://schemas.microsoft.com/office/drawing/2014/main" id="{50041E80-CFC9-BF68-A56D-090FFAD3365F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89EE21B4-8DD7-D74A-0E7A-E8E8AD4C30E2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7">
            <a:extLst>
              <a:ext uri="{FF2B5EF4-FFF2-40B4-BE49-F238E27FC236}">
                <a16:creationId xmlns:a16="http://schemas.microsoft.com/office/drawing/2014/main" id="{90ED31A5-B72D-C9FF-9B9D-08E95F757A63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88A717-8AE1-0E2F-93A9-AA8D4C3F2223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A11FD18A-923B-37DC-B9A7-933CCA266CC2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Freeform: Shape 16">
              <a:extLst>
                <a:ext uri="{FF2B5EF4-FFF2-40B4-BE49-F238E27FC236}">
                  <a16:creationId xmlns:a16="http://schemas.microsoft.com/office/drawing/2014/main" id="{1BCE8BD7-3CA5-7D4E-F4A0-0DE23B71C88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3" name="Freeform: Shape 23">
            <a:extLst>
              <a:ext uri="{FF2B5EF4-FFF2-40B4-BE49-F238E27FC236}">
                <a16:creationId xmlns:a16="http://schemas.microsoft.com/office/drawing/2014/main" id="{2460412D-C0BC-DC7D-EFD2-D762B3DEB08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86869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8FE82E-AC8F-40E0-0FA7-5F06FA15B408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D356D94-1A99-60EE-912E-72F42354A188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1657297-6B70-32E5-3E1E-13E791AE96FB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B26165-F069-7EB5-4012-45F2064CA078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BC120E5-A541-CA1A-0A49-F40887954A6B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A3B0884-94E7-0AC3-9C6E-DE4F84150FE0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821516F-73F4-F900-AE44-3D8F03F065C6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F24EFFF-FE31-0244-4B01-DC9824D875EA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83ECAAF-4E64-D7FC-0C6E-90EB92B3DDDC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21" name="Rectangle: Single Corner Snipped 20">
              <a:extLst>
                <a:ext uri="{FF2B5EF4-FFF2-40B4-BE49-F238E27FC236}">
                  <a16:creationId xmlns:a16="http://schemas.microsoft.com/office/drawing/2014/main" id="{6090F1F7-BF4E-4831-5F84-0E21B3BE8B6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2" name="Rectangle: Single Corner Snipped 21">
              <a:extLst>
                <a:ext uri="{FF2B5EF4-FFF2-40B4-BE49-F238E27FC236}">
                  <a16:creationId xmlns:a16="http://schemas.microsoft.com/office/drawing/2014/main" id="{8D285A82-2F29-9D4C-4183-35F1E4D61DA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0F1A998-2862-F9A0-8C9D-A99DCE7D97F9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47800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E2EDA-CAF9-08BB-B960-1F55D84CEAAF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16FDB7E-A27B-C693-5177-2A2155102DE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201A487-75A0-49BC-ECD7-952099879FD2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9F24E-07E0-1917-6E2C-3E44B955BD5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777F954-D51B-E206-3980-E7585A4973B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189EE38-82A1-3A59-63A7-DE9203EFA39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E02639C-2F81-A944-00D9-C2F3C83E2493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336AA33-DC76-6367-1B2A-D0F074A95563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0073E29-0023-5A4B-8852-243C4D687D3C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20" name="Rectangle: Single Corner Snipped 19">
              <a:extLst>
                <a:ext uri="{FF2B5EF4-FFF2-40B4-BE49-F238E27FC236}">
                  <a16:creationId xmlns:a16="http://schemas.microsoft.com/office/drawing/2014/main" id="{DD8DCADD-A3D9-7DA1-8861-84D4F2B984C2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Rectangle: Single Corner Snipped 20">
              <a:extLst>
                <a:ext uri="{FF2B5EF4-FFF2-40B4-BE49-F238E27FC236}">
                  <a16:creationId xmlns:a16="http://schemas.microsoft.com/office/drawing/2014/main" id="{379012E1-98AF-9530-8FDF-2D15DCD96A4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32417E4-6549-2FF0-2E9E-719E1ABAFAF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5624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481973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3665711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727497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539505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9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0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F97B90-2A91-2D87-D167-7B087AB3CA92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9">
            <a:extLst>
              <a:ext uri="{FF2B5EF4-FFF2-40B4-BE49-F238E27FC236}">
                <a16:creationId xmlns:a16="http://schemas.microsoft.com/office/drawing/2014/main" id="{F5ED4FB8-731D-058C-14DB-272E3DF956C9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7">
            <a:extLst>
              <a:ext uri="{FF2B5EF4-FFF2-40B4-BE49-F238E27FC236}">
                <a16:creationId xmlns:a16="http://schemas.microsoft.com/office/drawing/2014/main" id="{3AF43431-9592-01B9-902A-7D25FBC5EF9D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E2851F18-A8EA-9476-4A82-DC3CF8DAB13D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Freeform: Shape 7">
            <a:extLst>
              <a:ext uri="{FF2B5EF4-FFF2-40B4-BE49-F238E27FC236}">
                <a16:creationId xmlns:a16="http://schemas.microsoft.com/office/drawing/2014/main" id="{2E984B19-6FBC-6FDF-3A21-F743B0C805AF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F7933C9-19C2-3704-B8C8-E5EC182F7EEB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E4FB22-41DB-DC82-0DD7-58FA05B2748B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7" name="Freeform: Shape 15">
              <a:extLst>
                <a:ext uri="{FF2B5EF4-FFF2-40B4-BE49-F238E27FC236}">
                  <a16:creationId xmlns:a16="http://schemas.microsoft.com/office/drawing/2014/main" id="{17009D5D-60A8-4815-7A6B-6AEB10811B3C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6">
              <a:extLst>
                <a:ext uri="{FF2B5EF4-FFF2-40B4-BE49-F238E27FC236}">
                  <a16:creationId xmlns:a16="http://schemas.microsoft.com/office/drawing/2014/main" id="{E4040583-BEE1-DC7E-753C-11754C8A1C21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EA0453B-B2F0-901A-F9C9-0B92519D17F3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20" name="Rectangle: Single Corner Snipped 18">
              <a:extLst>
                <a:ext uri="{FF2B5EF4-FFF2-40B4-BE49-F238E27FC236}">
                  <a16:creationId xmlns:a16="http://schemas.microsoft.com/office/drawing/2014/main" id="{5BF74D23-B6CE-5135-AC70-7968B2F3D812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21" name="Rectangle: Single Corner Snipped 2">
              <a:extLst>
                <a:ext uri="{FF2B5EF4-FFF2-40B4-BE49-F238E27FC236}">
                  <a16:creationId xmlns:a16="http://schemas.microsoft.com/office/drawing/2014/main" id="{2C84F7D3-EF9B-F919-3422-0DA9EDC5281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2" name="Freeform: Shape 23">
            <a:extLst>
              <a:ext uri="{FF2B5EF4-FFF2-40B4-BE49-F238E27FC236}">
                <a16:creationId xmlns:a16="http://schemas.microsoft.com/office/drawing/2014/main" id="{7207AED6-C428-AA0C-1C25-5F80ED6F8F5E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A5B289D0-6309-4B52-3DF9-F575EE3951EE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8063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  <p:sldLayoutId id="2147483651" r:id="rId14"/>
    <p:sldLayoutId id="2147483666" r:id="rId15"/>
    <p:sldLayoutId id="2147483661" r:id="rId16"/>
    <p:sldLayoutId id="2147483677" r:id="rId17"/>
    <p:sldLayoutId id="2147483674" r:id="rId18"/>
    <p:sldLayoutId id="2147483665" r:id="rId19"/>
    <p:sldLayoutId id="2147483673" r:id="rId20"/>
    <p:sldLayoutId id="2147483662" r:id="rId21"/>
    <p:sldLayoutId id="2147483663" r:id="rId22"/>
    <p:sldLayoutId id="2147483664" r:id="rId23"/>
    <p:sldLayoutId id="2147483675" r:id="rId24"/>
    <p:sldLayoutId id="2147483676" r:id="rId25"/>
    <p:sldLayoutId id="2147483672" r:id="rId26"/>
    <p:sldLayoutId id="2147483668" r:id="rId2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2667" y="2327995"/>
            <a:ext cx="11413065" cy="1243584"/>
          </a:xfrm>
        </p:spPr>
        <p:txBody>
          <a:bodyPr>
            <a:normAutofit fontScale="90000"/>
          </a:bodyPr>
          <a:lstStyle/>
          <a:p>
            <a:r>
              <a:rPr lang="en-US" dirty="0"/>
              <a:t>Data Storytelling &amp; Statistical Validation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6422" y="3907874"/>
            <a:ext cx="7077456" cy="868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Subtitle:</a:t>
            </a:r>
          </a:p>
          <a:p>
            <a:pPr marL="0" indent="0">
              <a:buNone/>
            </a:pPr>
            <a:r>
              <a:rPr lang="en-US" dirty="0"/>
              <a:t>Internship Project – Sales Data Analysis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237" y="1109134"/>
            <a:ext cx="7781544" cy="859055"/>
          </a:xfrm>
        </p:spPr>
        <p:txBody>
          <a:bodyPr>
            <a:normAutofit fontScale="90000"/>
          </a:bodyPr>
          <a:lstStyle/>
          <a:p>
            <a:r>
              <a:rPr lang="en-US" dirty="0"/>
              <a:t>Objective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44237" y="2218267"/>
            <a:ext cx="8125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544237" y="2079768"/>
            <a:ext cx="778154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overall sales performance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different time periods and product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categories in order to understand revenue behavior and growth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key revenue drivers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including top-selling products and high-performing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categories, that contribute the most to total sales.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data-driven business decisions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transforming raw sales data into meaningful insights using analysis and visualization techniques.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Analyzing monthly sales trends and seasonal patterns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646" y="516467"/>
            <a:ext cx="7781544" cy="859055"/>
          </a:xfrm>
        </p:spPr>
        <p:txBody>
          <a:bodyPr>
            <a:normAutofit fontScale="90000"/>
          </a:bodyPr>
          <a:lstStyle/>
          <a:p>
            <a:r>
              <a:rPr lang="en-US" dirty="0"/>
              <a:t>Analysis Performed</a:t>
            </a:r>
          </a:p>
        </p:txBody>
      </p:sp>
      <p:sp>
        <p:nvSpPr>
          <p:cNvPr id="3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46" y="1650252"/>
            <a:ext cx="8919887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Cleaned and preprocessed sales data using </a:t>
            </a:r>
            <a:r>
              <a:rPr kumimoji="0" lang="en-US" sz="18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Python (Pandas, </a:t>
            </a:r>
            <a:r>
              <a:rPr kumimoji="0" lang="en-US" sz="1800" b="1" i="0" u="none" strike="noStrike" cap="none" spc="0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NumPy</a:t>
            </a:r>
            <a:r>
              <a:rPr kumimoji="0" lang="en-US" sz="18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Conducted </a:t>
            </a:r>
            <a:r>
              <a:rPr kumimoji="0" lang="en-US" sz="18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Exploratory Data Analysis (EDA)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to identify patterns and outliers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Analyzed sales performance by </a:t>
            </a:r>
            <a:r>
              <a:rPr kumimoji="0" lang="en-US" sz="18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product category and time period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Built </a:t>
            </a:r>
            <a:r>
              <a:rPr kumimoji="0" lang="en-US" sz="18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interactive dashboards using Power BI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for dynamic analysis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Evaluated </a:t>
            </a:r>
            <a:r>
              <a:rPr kumimoji="0" lang="en-US" sz="18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monthly revenue trends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to identify seasonal variations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230718" y="1206651"/>
            <a:ext cx="557741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products contribute maximum revenue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small group of products accounts for a significant portion of total revenue, indicating that business performance is strongly driven by a few high-value items.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revenue shows seasonal trends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varies across months, highlighting seasonal patterns with peak and low sales periods that can be leveraged for planning promotions and inventory.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Quantity sold does not always mean higher revenue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products sell in large quantities but generate lower revenue due to lower pricing.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6533" t="18643" r="21115" b="7576"/>
          <a:stretch/>
        </p:blipFill>
        <p:spPr>
          <a:xfrm>
            <a:off x="5563527" y="1338644"/>
            <a:ext cx="6481365" cy="426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34" y="226938"/>
            <a:ext cx="10058400" cy="1609344"/>
          </a:xfrm>
        </p:spPr>
        <p:txBody>
          <a:bodyPr/>
          <a:lstStyle/>
          <a:p>
            <a:r>
              <a:rPr lang="en-US" dirty="0"/>
              <a:t>Business Recommendation</a:t>
            </a:r>
          </a:p>
        </p:txBody>
      </p:sp>
      <p:sp>
        <p:nvSpPr>
          <p:cNvPr id="12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6983" y="1319327"/>
            <a:ext cx="95123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 high-revenue products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marketing campaigns and promotional efforts on products that contribute the most to revenue in order to maximize return on marketing investment.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pricing for low-revenue products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Re-evaluate pricing strategies for products that sell in high quantities but generate lower revenue, and consider price optimization or bundling to improve profitability.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dashboards for continuous monitoring</a:t>
            </a: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Leverage interactive Power BI dashboards to regularly track sales performance, monitor KPIs, and enable quick, data-driven business decisions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52555" y="194394"/>
            <a:ext cx="7077456" cy="1243584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0154" y="1689606"/>
            <a:ext cx="8787046" cy="3898393"/>
          </a:xfrm>
        </p:spPr>
        <p:txBody>
          <a:bodyPr>
            <a:noAutofit/>
          </a:bodyPr>
          <a:lstStyle/>
          <a:p>
            <a:r>
              <a:rPr lang="en-US" b="1" spc="0" dirty="0"/>
              <a:t>Data storytelling helps convert numbers into decisions</a:t>
            </a:r>
            <a:br>
              <a:rPr lang="en-US" spc="0" dirty="0"/>
            </a:br>
            <a:r>
              <a:rPr lang="en-US" spc="0" dirty="0"/>
              <a:t>By combining data analysis with clear narratives, complex numerical information is transformed into actionable business insights that support informed decision-making.</a:t>
            </a:r>
          </a:p>
          <a:p>
            <a:endParaRPr lang="en-US" spc="0" dirty="0"/>
          </a:p>
          <a:p>
            <a:r>
              <a:rPr lang="en-US" b="1" spc="0" dirty="0"/>
              <a:t>Dashboards enable faster business insights</a:t>
            </a:r>
            <a:br>
              <a:rPr lang="en-US" spc="0" dirty="0"/>
            </a:br>
            <a:r>
              <a:rPr lang="en-US" spc="0" dirty="0"/>
              <a:t>Interactive dashboards provide real-time visibility into key performance metrics, allowing stakeholders to quickly identify trends, issues, and opportunities.</a:t>
            </a:r>
          </a:p>
          <a:p>
            <a:endParaRPr lang="en-US" spc="0" dirty="0"/>
          </a:p>
          <a:p>
            <a:r>
              <a:rPr lang="en-US" b="1" spc="0" dirty="0"/>
              <a:t>Statistical validation adds confidence to findings</a:t>
            </a:r>
            <a:br>
              <a:rPr lang="en-US" spc="0" dirty="0"/>
            </a:br>
            <a:r>
              <a:rPr lang="en-US" spc="0" dirty="0"/>
              <a:t>Using statistical measures and well-defined KPIs ensures that insights are reliable, accurate, and supported by data, increasing trust in analytical outcomes.</a:t>
            </a:r>
          </a:p>
        </p:txBody>
      </p:sp>
    </p:spTree>
    <p:extLst>
      <p:ext uri="{BB962C8B-B14F-4D97-AF65-F5344CB8AC3E}">
        <p14:creationId xmlns:p14="http://schemas.microsoft.com/office/powerpoint/2010/main" val="2558024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0</TotalTime>
  <Words>408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Black</vt:lpstr>
      <vt:lpstr>Calibri</vt:lpstr>
      <vt:lpstr>Times New Roman</vt:lpstr>
      <vt:lpstr>Trade Gothic LT Pro</vt:lpstr>
      <vt:lpstr>Wingdings</vt:lpstr>
      <vt:lpstr>Wood Type</vt:lpstr>
      <vt:lpstr>Data Storytelling &amp; Statistical Validation</vt:lpstr>
      <vt:lpstr>Objective</vt:lpstr>
      <vt:lpstr>Analysis Performed</vt:lpstr>
      <vt:lpstr>Key Insights</vt:lpstr>
      <vt:lpstr>Business Recommendation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2026-01-26T17:50:41Z</dcterms:created>
  <dcterms:modified xsi:type="dcterms:W3CDTF">2026-06-23T14:31:48Z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